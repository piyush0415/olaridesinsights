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4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0" y="52"/>
      </p:cViewPr>
      <p:guideLst/>
    </p:cSldViewPr>
  </p:slideViewPr>
  <p:notesTextViewPr>
    <p:cViewPr>
      <p:scale>
        <a:sx n="25" d="100"/>
        <a:sy n="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4A8A8-6135-42A7-8C61-BE5B6A417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D6ABC-6CB6-19EF-C02B-2D062A463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351EA-8A6A-AA29-08E7-CDEC8B1CB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9A9D-955F-411F-8FFE-80E2E67F71A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86150-CF1B-8CBA-72FF-8C9B03CE1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0B9B6-7F0F-32A3-2858-730A9D5CC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5EC5-3EAE-4180-AB15-71C774500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346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78D53-8260-8912-3400-02718297B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AE080-3CAE-DF39-4260-4C68A0591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4EDBA-DFFE-CBA0-470D-19B963E2F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9A9D-955F-411F-8FFE-80E2E67F71A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F15D-6393-DD86-B7E2-EBBC318B2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45AEE-E8A6-55AE-D2EA-C23210C3C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5EC5-3EAE-4180-AB15-71C774500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542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84291-5957-7698-62BC-8D2529DD1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EBBF7-8FA8-0218-86D7-B4C039F3C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5611B-1AC8-8B89-E651-23DCEA725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9A9D-955F-411F-8FFE-80E2E67F71A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A8EE2-31B3-FAC3-A8DD-BC534326C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1A13-D1BB-9EB9-FBD8-F53FFFB6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5EC5-3EAE-4180-AB15-71C774500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294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AE41E-5BF7-D224-9FC9-A217F11CB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DE8A8-F379-F933-D386-C9A847185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1B23F-A989-65A8-14EA-A7360FA84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43EBC-E760-3CF3-D89F-803CD1FD9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9A9D-955F-411F-8FFE-80E2E67F71A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A9F49-7561-9B7F-DBCE-F518D9FA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6C79C-037D-3773-FE03-0918FC245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5EC5-3EAE-4180-AB15-71C774500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756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D6CA8-8D04-60D3-EFB1-36E501E3E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2D250-71D2-988E-090E-7A4D6E76C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665CE-CDFC-B727-3C2C-614ABF9C5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C29D67-3EAE-344B-ED05-117547075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D948E3-6092-E1A0-9B7E-2ABF873159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F067A8-3F9B-6870-3266-6CBEA718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9A9D-955F-411F-8FFE-80E2E67F71A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67AA9C-7264-10AA-096B-412F01EF2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A0F20-1857-8A9D-C7DD-31F8F6CD9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5EC5-3EAE-4180-AB15-71C774500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11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D2B41-A7EF-FF93-B9C8-9BEB7CD9C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20480-C6F1-85E3-E146-FF9559DD5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9A9D-955F-411F-8FFE-80E2E67F71A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A8D51-93D5-1D56-DFE3-F1711F02B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5826DF-74B2-B160-5B99-F7DB35D23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5EC5-3EAE-4180-AB15-71C774500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44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F75BE8-8FD7-6AC8-1071-9D66C0925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9A9D-955F-411F-8FFE-80E2E67F71A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9BB8C5-607D-2E8E-C3CA-1C22F8744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B0175-8AF1-F15F-1C2A-7C98C60A0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5EC5-3EAE-4180-AB15-71C774500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811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DF5A-C7D7-08FC-BB85-374100987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9FF5F-7E06-05D9-FE0E-50793A029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4F507-5E88-334F-5828-253B04CFE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CD9B8-D520-107B-96EA-A31D7F887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9A9D-955F-411F-8FFE-80E2E67F71A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2615A-A282-13F7-2C01-990420ED9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E032F-9B7A-DBD9-9D0A-3B3648C60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5EC5-3EAE-4180-AB15-71C774500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147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34D96-70DE-F002-DCB5-591BF980D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D7081C-8892-031E-AB77-3DC6A4AC80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67692-8567-CF5E-EEB8-2D906337F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F9D02-65CA-490D-1E14-D6479561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9A9D-955F-411F-8FFE-80E2E67F71A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DD31D-26A2-D18D-0565-DC588CBD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DB843-7D29-96F4-3A3B-2E4933B5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5EC5-3EAE-4180-AB15-71C774500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715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A52EA-E1E0-16A6-3CFC-D7A01311A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0EBCC-421F-1E73-7566-EE7B74CB4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259FE-D5AF-778D-57E0-F4DA1F42B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9A9D-955F-411F-8FFE-80E2E67F71A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A2CEC-F0B6-D8C4-630A-82BAE7258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0EA76-3E65-7369-326F-E946FE996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5EC5-3EAE-4180-AB15-71C774500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949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D1D5DB-C5BF-459C-B32E-85CADF234F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835FA-EA66-EF00-432D-8643D7A46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45D48-2AFE-9E3B-997D-62BA7EA9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9A9D-955F-411F-8FFE-80E2E67F71A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E4BC7-86DE-88FB-0665-2E50E88A9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82367-861D-89AD-B6C6-6B436E203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5EC5-3EAE-4180-AB15-71C774500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738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88DB8-1CD4-45F5-66DA-2E93DF7F4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69FDD-2049-0694-3561-7B1AAF62F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FC43D-AC41-079D-B753-FB7DB98650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59A9D-955F-411F-8FFE-80E2E67F71A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1F299-0138-09EA-FB3E-66EBD4934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85BD6-3F92-26F5-BD8A-3014DCBE3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C5EC5-3EAE-4180-AB15-71C774500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950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A286F-320F-5A8F-02D8-C60978D4D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4605" y="470630"/>
            <a:ext cx="9602787" cy="2696760"/>
          </a:xfrm>
        </p:spPr>
        <p:txBody>
          <a:bodyPr>
            <a:normAutofit/>
          </a:bodyPr>
          <a:lstStyle/>
          <a:p>
            <a:r>
              <a:rPr lang="en-US" sz="5700" dirty="0">
                <a:latin typeface="Bookman Old Style" panose="02050604050505020204" pitchFamily="18" charset="0"/>
              </a:rPr>
              <a:t>Ola Ride Data Analysis </a:t>
            </a:r>
            <a:endParaRPr lang="en-IN" sz="5700" dirty="0">
              <a:latin typeface="Bookman Old Style" panose="020506040505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C04C21-EE41-EAFD-2FF7-46206AAFAAB4}"/>
              </a:ext>
            </a:extLst>
          </p:cNvPr>
          <p:cNvSpPr txBox="1"/>
          <p:nvPr/>
        </p:nvSpPr>
        <p:spPr>
          <a:xfrm>
            <a:off x="3513657" y="3167390"/>
            <a:ext cx="5164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Data Analysis Project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F20C5-009C-5E9B-D2E0-1D8BB2C05C02}"/>
              </a:ext>
            </a:extLst>
          </p:cNvPr>
          <p:cNvSpPr txBox="1"/>
          <p:nvPr/>
        </p:nvSpPr>
        <p:spPr>
          <a:xfrm>
            <a:off x="4018794" y="3755569"/>
            <a:ext cx="41544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         Presented by: </a:t>
            </a:r>
            <a:r>
              <a:rPr lang="en-US" dirty="0"/>
              <a:t>Piyush Agarwal</a:t>
            </a:r>
            <a:br>
              <a:rPr lang="en-US" dirty="0"/>
            </a:br>
            <a:r>
              <a:rPr lang="en-US" dirty="0"/>
              <a:t>Data Analyst | Computer Science Engineer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312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AE1AE7-DF6F-05F2-5423-07C79FEEC0FA}"/>
              </a:ext>
            </a:extLst>
          </p:cNvPr>
          <p:cNvSpPr txBox="1"/>
          <p:nvPr/>
        </p:nvSpPr>
        <p:spPr>
          <a:xfrm>
            <a:off x="620486" y="522515"/>
            <a:ext cx="2824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430224-4D43-BBB4-1AD1-9D2C5B592B4D}"/>
              </a:ext>
            </a:extLst>
          </p:cNvPr>
          <p:cNvSpPr txBox="1"/>
          <p:nvPr/>
        </p:nvSpPr>
        <p:spPr>
          <a:xfrm>
            <a:off x="620486" y="1107290"/>
            <a:ext cx="108312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rapid growth of ride-hailing platforms has generated a huge amount of data that can be analyzed to understand customer </a:t>
            </a:r>
            <a:r>
              <a:rPr lang="en-US" dirty="0" err="1"/>
              <a:t>behaviour</a:t>
            </a:r>
            <a:r>
              <a:rPr lang="en-US" dirty="0"/>
              <a:t>, ride demand, and operational efficiency.</a:t>
            </a:r>
          </a:p>
          <a:p>
            <a:r>
              <a:rPr lang="en-US" dirty="0"/>
              <a:t>In this project, the </a:t>
            </a:r>
            <a:r>
              <a:rPr lang="en-US" b="1" dirty="0"/>
              <a:t>Ola ride dataset</a:t>
            </a:r>
            <a:r>
              <a:rPr lang="en-US" dirty="0"/>
              <a:t> is analyzed using </a:t>
            </a:r>
            <a:r>
              <a:rPr lang="en-US" b="1" dirty="0"/>
              <a:t>SQL queries</a:t>
            </a:r>
            <a:r>
              <a:rPr lang="en-US" dirty="0"/>
              <a:t> to extract meaningful insights, and the results are visualized through an </a:t>
            </a:r>
            <a:r>
              <a:rPr lang="en-US" b="1" dirty="0"/>
              <a:t>interactive dashboard</a:t>
            </a:r>
            <a:r>
              <a:rPr lang="en-US" dirty="0"/>
              <a:t>.</a:t>
            </a:r>
          </a:p>
          <a:p>
            <a:r>
              <a:rPr lang="en-US" dirty="0"/>
              <a:t>This analysis helps identify patterns such as ride cancellations, booking values, driver performance, and customer ratings.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2FA81C-0901-B5FC-8582-580CFF8556D7}"/>
              </a:ext>
            </a:extLst>
          </p:cNvPr>
          <p:cNvSpPr txBox="1"/>
          <p:nvPr/>
        </p:nvSpPr>
        <p:spPr>
          <a:xfrm>
            <a:off x="620485" y="2971801"/>
            <a:ext cx="19659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C7E603-921B-B9C8-B0F2-1DE700336627}"/>
              </a:ext>
            </a:extLst>
          </p:cNvPr>
          <p:cNvSpPr txBox="1"/>
          <p:nvPr/>
        </p:nvSpPr>
        <p:spPr>
          <a:xfrm>
            <a:off x="620485" y="3556576"/>
            <a:ext cx="1083128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main objectives of this project are: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analyze </a:t>
            </a:r>
            <a:r>
              <a:rPr lang="en-US" b="1" dirty="0"/>
              <a:t>Ola ride booking data</a:t>
            </a:r>
            <a:r>
              <a:rPr lang="en-US" dirty="0"/>
              <a:t> using SQL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identify patterns in </a:t>
            </a:r>
            <a:r>
              <a:rPr lang="en-US" b="1" dirty="0"/>
              <a:t>ride demand and cancellations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evaluate </a:t>
            </a:r>
            <a:r>
              <a:rPr lang="en-US" b="1" dirty="0"/>
              <a:t>driver and customer ratings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understand </a:t>
            </a:r>
            <a:r>
              <a:rPr lang="en-US" b="1" dirty="0"/>
              <a:t>payment methods and booking values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build an </a:t>
            </a:r>
            <a:r>
              <a:rPr lang="en-US" b="1" dirty="0"/>
              <a:t>interactive dashboard</a:t>
            </a:r>
            <a:r>
              <a:rPr lang="en-US" dirty="0"/>
              <a:t> for data visualization</a:t>
            </a:r>
          </a:p>
          <a:p>
            <a:endParaRPr lang="en-US" dirty="0"/>
          </a:p>
          <a:p>
            <a:r>
              <a:rPr lang="en-US" dirty="0"/>
              <a:t>This project demonstrates how </a:t>
            </a:r>
            <a:r>
              <a:rPr lang="en-US" b="1" dirty="0"/>
              <a:t>data analytics can help ride-sharing companies improve decision-making and operational efficiency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0586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3B0765-44F4-5B62-7C5E-67ECEDF67B5F}"/>
              </a:ext>
            </a:extLst>
          </p:cNvPr>
          <p:cNvSpPr txBox="1"/>
          <p:nvPr/>
        </p:nvSpPr>
        <p:spPr>
          <a:xfrm>
            <a:off x="620486" y="52251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Dataset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92C1E0-FFB3-5E0E-C189-7841B6C07286}"/>
              </a:ext>
            </a:extLst>
          </p:cNvPr>
          <p:cNvSpPr txBox="1"/>
          <p:nvPr/>
        </p:nvSpPr>
        <p:spPr>
          <a:xfrm>
            <a:off x="620486" y="1107290"/>
            <a:ext cx="7418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dataset contains information about </a:t>
            </a:r>
            <a:r>
              <a:rPr lang="en-US" b="1" dirty="0"/>
              <a:t>ride bookings and ride performance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3948D-EC2B-E132-9868-B6793E0D03D8}"/>
              </a:ext>
            </a:extLst>
          </p:cNvPr>
          <p:cNvSpPr txBox="1"/>
          <p:nvPr/>
        </p:nvSpPr>
        <p:spPr>
          <a:xfrm>
            <a:off x="620486" y="1476622"/>
            <a:ext cx="873110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Key Columns in the Dataset: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Booking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Date and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Vehicle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Pickup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Drop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Booking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Ride 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Booking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Payment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Driver Ratings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Ratings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Ride Cancellations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This dataset helps analyze </a:t>
            </a:r>
            <a:r>
              <a:rPr lang="en-US" b="1" dirty="0"/>
              <a:t>ride trends, operational performance, and customer experience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1607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F4E472-3404-23B2-260C-EC7CE99913CA}"/>
              </a:ext>
            </a:extLst>
          </p:cNvPr>
          <p:cNvSpPr txBox="1"/>
          <p:nvPr/>
        </p:nvSpPr>
        <p:spPr>
          <a:xfrm>
            <a:off x="620486" y="522515"/>
            <a:ext cx="5086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n-NO" sz="3200" dirty="0"/>
              <a:t>SQL Queries for Data Analysis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B7E0AD-FBCC-C439-2262-2E7C72DC325D}"/>
              </a:ext>
            </a:extLst>
          </p:cNvPr>
          <p:cNvSpPr txBox="1"/>
          <p:nvPr/>
        </p:nvSpPr>
        <p:spPr>
          <a:xfrm>
            <a:off x="620486" y="1107290"/>
            <a:ext cx="5717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SQL queries were used to extract insights from the dataset.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03B1D-9CC9-1C0E-C5EB-C7111A9BA163}"/>
              </a:ext>
            </a:extLst>
          </p:cNvPr>
          <p:cNvSpPr txBox="1"/>
          <p:nvPr/>
        </p:nvSpPr>
        <p:spPr>
          <a:xfrm>
            <a:off x="620486" y="1750576"/>
            <a:ext cx="1036245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Examples of queries include:</a:t>
            </a:r>
          </a:p>
          <a:p>
            <a:endParaRPr lang="en-US" dirty="0"/>
          </a:p>
          <a:p>
            <a:r>
              <a:rPr lang="en-US" dirty="0"/>
              <a:t>1. Ride Volume Over Time</a:t>
            </a:r>
            <a:endParaRPr lang="en-US" b="0" dirty="0">
              <a:effectLst/>
            </a:endParaRPr>
          </a:p>
          <a:p>
            <a:r>
              <a:rPr lang="en-US" dirty="0"/>
              <a:t>2. Booking Status Breakdown</a:t>
            </a:r>
            <a:endParaRPr lang="en-US" b="0" dirty="0">
              <a:effectLst/>
            </a:endParaRPr>
          </a:p>
          <a:p>
            <a:r>
              <a:rPr lang="en-US" dirty="0"/>
              <a:t>3. Top 5 Vehicle Types by Ride Distance</a:t>
            </a:r>
            <a:endParaRPr lang="en-US" b="0" dirty="0">
              <a:effectLst/>
            </a:endParaRPr>
          </a:p>
          <a:p>
            <a:r>
              <a:rPr lang="en-US" dirty="0"/>
              <a:t>4. Average Customer Ratings by Vehicle Type</a:t>
            </a:r>
            <a:endParaRPr lang="en-US" b="0" dirty="0">
              <a:effectLst/>
            </a:endParaRPr>
          </a:p>
          <a:p>
            <a:r>
              <a:rPr lang="en-US" dirty="0"/>
              <a:t>5. Canceled Rides Reasons</a:t>
            </a:r>
            <a:endParaRPr lang="en-US" b="0" dirty="0">
              <a:effectLst/>
            </a:endParaRPr>
          </a:p>
          <a:p>
            <a:r>
              <a:rPr lang="en-US" dirty="0"/>
              <a:t>6. Revenue by Payment Method</a:t>
            </a:r>
            <a:endParaRPr lang="en-US" b="0" dirty="0">
              <a:effectLst/>
            </a:endParaRPr>
          </a:p>
          <a:p>
            <a:r>
              <a:rPr lang="en-US" dirty="0"/>
              <a:t>7. Top 5 Customers by Total Booking Value</a:t>
            </a:r>
            <a:endParaRPr lang="en-US" b="0" dirty="0">
              <a:effectLst/>
            </a:endParaRPr>
          </a:p>
          <a:p>
            <a:r>
              <a:rPr lang="en-US" dirty="0"/>
              <a:t>8. Ride Distance Distribution Per Day</a:t>
            </a:r>
            <a:endParaRPr lang="en-US" b="0" dirty="0">
              <a:effectLst/>
            </a:endParaRPr>
          </a:p>
          <a:p>
            <a:r>
              <a:rPr lang="en-US" dirty="0"/>
              <a:t>9. Driver Ratings Distribution</a:t>
            </a:r>
            <a:endParaRPr lang="en-US" b="0" dirty="0">
              <a:effectLst/>
            </a:endParaRPr>
          </a:p>
          <a:p>
            <a:r>
              <a:rPr lang="en-US" dirty="0"/>
              <a:t>10. Customer vs. Driver Ratings</a:t>
            </a:r>
            <a:endParaRPr lang="en-US" b="0" dirty="0">
              <a:effectLst/>
            </a:endParaRPr>
          </a:p>
          <a:p>
            <a:endParaRPr lang="en-US" dirty="0"/>
          </a:p>
          <a:p>
            <a:r>
              <a:rPr lang="en-US" dirty="0"/>
              <a:t>These queries help transform raw data into </a:t>
            </a:r>
            <a:r>
              <a:rPr lang="en-US" b="1" dirty="0"/>
              <a:t>useful business insights </a:t>
            </a:r>
            <a:r>
              <a:rPr lang="en-US" dirty="0"/>
              <a:t>using JOINS, CTEs, Window Function etc.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0039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785210-2E03-BBD9-5799-0AF842AF8A80}"/>
              </a:ext>
            </a:extLst>
          </p:cNvPr>
          <p:cNvSpPr txBox="1"/>
          <p:nvPr/>
        </p:nvSpPr>
        <p:spPr>
          <a:xfrm>
            <a:off x="620486" y="522515"/>
            <a:ext cx="48013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Dashboard Overview #1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E2114A-6A46-3E3F-70DC-BDB4EFE08D00}"/>
              </a:ext>
            </a:extLst>
          </p:cNvPr>
          <p:cNvSpPr txBox="1"/>
          <p:nvPr/>
        </p:nvSpPr>
        <p:spPr>
          <a:xfrm>
            <a:off x="620486" y="1107290"/>
            <a:ext cx="689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dashboard provides a </a:t>
            </a:r>
            <a:r>
              <a:rPr lang="en-US" b="1" dirty="0"/>
              <a:t>visual representation of the dataset insights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97FDF7-06F0-6DBC-DC6A-FEA88BAE1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18955" y="2683207"/>
            <a:ext cx="6058822" cy="3410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FE2C6B-645B-FD7A-0C65-F580AB0377EC}"/>
              </a:ext>
            </a:extLst>
          </p:cNvPr>
          <p:cNvSpPr txBox="1"/>
          <p:nvPr/>
        </p:nvSpPr>
        <p:spPr>
          <a:xfrm>
            <a:off x="620486" y="1676676"/>
            <a:ext cx="38430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Key Insights from Dashboard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449528-F11D-D53C-BB91-FF43F70F71D9}"/>
              </a:ext>
            </a:extLst>
          </p:cNvPr>
          <p:cNvSpPr txBox="1"/>
          <p:nvPr/>
        </p:nvSpPr>
        <p:spPr>
          <a:xfrm>
            <a:off x="620485" y="2138341"/>
            <a:ext cx="49332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important insights from the analysis include: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The platform recorded </a:t>
            </a:r>
            <a:r>
              <a:rPr lang="en-US" b="1" dirty="0"/>
              <a:t>103K total bookings</a:t>
            </a:r>
            <a:r>
              <a:rPr lang="en-US" dirty="0"/>
              <a:t>, showing strong usage of the ride-hailing service during the selected period.</a:t>
            </a:r>
          </a:p>
          <a:p>
            <a:pPr marL="342900" indent="-342900">
              <a:buAutoNum type="arabicPeriod"/>
            </a:pPr>
            <a:r>
              <a:rPr lang="en-US" dirty="0"/>
              <a:t>The rides generated approximately </a:t>
            </a:r>
            <a:r>
              <a:rPr lang="en-US" b="1" dirty="0"/>
              <a:t>₹57 million in total revenue</a:t>
            </a:r>
            <a:r>
              <a:rPr lang="en-US" dirty="0"/>
              <a:t>, indicating the large financial scale of the operations.</a:t>
            </a:r>
          </a:p>
          <a:p>
            <a:pPr marL="342900" indent="-342900">
              <a:buAutoNum type="arabicPeriod"/>
            </a:pPr>
            <a:r>
              <a:rPr lang="en-US" dirty="0"/>
              <a:t>Around </a:t>
            </a:r>
            <a:r>
              <a:rPr lang="en-US" b="1" dirty="0"/>
              <a:t>62.09% of bookings were successfully completed</a:t>
            </a:r>
            <a:r>
              <a:rPr lang="en-US" dirty="0"/>
              <a:t>, showing efficient ride allocation and service performance.</a:t>
            </a:r>
          </a:p>
          <a:p>
            <a:pPr marL="342900" indent="-342900">
              <a:buAutoNum type="arabicPeriod"/>
            </a:pPr>
            <a:r>
              <a:rPr lang="en-US" dirty="0"/>
              <a:t>About </a:t>
            </a:r>
            <a:r>
              <a:rPr lang="en-US" b="1" dirty="0"/>
              <a:t>17.89% of rides were canceled by drivers</a:t>
            </a:r>
            <a:r>
              <a:rPr lang="en-US" dirty="0"/>
              <a:t>, suggesting possible issues like driver availability, long pickup distances, or traffic conditions.</a:t>
            </a:r>
          </a:p>
        </p:txBody>
      </p:sp>
    </p:spTree>
    <p:extLst>
      <p:ext uri="{BB962C8B-B14F-4D97-AF65-F5344CB8AC3E}">
        <p14:creationId xmlns:p14="http://schemas.microsoft.com/office/powerpoint/2010/main" val="1311099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5547F-A24A-07D5-CE43-5F17E79BB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CB4B83-0783-E93D-4160-0C7391CCD08A}"/>
              </a:ext>
            </a:extLst>
          </p:cNvPr>
          <p:cNvSpPr txBox="1"/>
          <p:nvPr/>
        </p:nvSpPr>
        <p:spPr>
          <a:xfrm>
            <a:off x="620486" y="522515"/>
            <a:ext cx="48013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Dashboard Overview #2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6EE38E-C63A-4CB7-3474-69951523105B}"/>
              </a:ext>
            </a:extLst>
          </p:cNvPr>
          <p:cNvSpPr txBox="1"/>
          <p:nvPr/>
        </p:nvSpPr>
        <p:spPr>
          <a:xfrm>
            <a:off x="620486" y="1107290"/>
            <a:ext cx="6899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dashboard provides a </a:t>
            </a:r>
            <a:r>
              <a:rPr lang="en-US" b="1" dirty="0"/>
              <a:t>visual representation of the dataset insights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7726CE-2DC4-BAA7-0082-CCB699140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18955" y="2654530"/>
            <a:ext cx="6058822" cy="34286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F2734E-5D78-D05B-B7A0-DE41E03B267E}"/>
              </a:ext>
            </a:extLst>
          </p:cNvPr>
          <p:cNvSpPr txBox="1"/>
          <p:nvPr/>
        </p:nvSpPr>
        <p:spPr>
          <a:xfrm>
            <a:off x="620486" y="1692065"/>
            <a:ext cx="38430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Key Insights from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F74EB-3079-61C1-C7BC-5B876ED5979B}"/>
              </a:ext>
            </a:extLst>
          </p:cNvPr>
          <p:cNvSpPr txBox="1"/>
          <p:nvPr/>
        </p:nvSpPr>
        <p:spPr>
          <a:xfrm>
            <a:off x="620486" y="2153730"/>
            <a:ext cx="49332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important insights from the analysis include: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b="1" dirty="0"/>
              <a:t>Prime Sedan</a:t>
            </a:r>
            <a:r>
              <a:rPr lang="en-US" dirty="0"/>
              <a:t> has the highest total booking value (</a:t>
            </a:r>
            <a:r>
              <a:rPr lang="en-US" b="1" dirty="0"/>
              <a:t>8.3M</a:t>
            </a:r>
            <a:r>
              <a:rPr lang="en-US" dirty="0"/>
              <a:t>), indicating it is one of the most preferred vehicle options among customers</a:t>
            </a:r>
          </a:p>
          <a:p>
            <a:pPr marL="342900" indent="-342900">
              <a:buAutoNum type="arabicPeriod"/>
            </a:pPr>
            <a:r>
              <a:rPr lang="en-US" dirty="0"/>
              <a:t>Most vehicle categories such as </a:t>
            </a:r>
            <a:r>
              <a:rPr lang="en-US" b="1" dirty="0"/>
              <a:t>Prime Plus, Mini, Bike, and E-Bike</a:t>
            </a:r>
            <a:r>
              <a:rPr lang="en-US" dirty="0"/>
              <a:t> have similar booking values (around </a:t>
            </a:r>
            <a:r>
              <a:rPr lang="en-US" b="1" dirty="0"/>
              <a:t>8M</a:t>
            </a:r>
            <a:r>
              <a:rPr lang="en-US" dirty="0"/>
              <a:t>), showing balanced demand across different ride options</a:t>
            </a:r>
          </a:p>
          <a:p>
            <a:pPr marL="342900" indent="-342900">
              <a:buAutoNum type="arabicPeriod"/>
            </a:pPr>
            <a:r>
              <a:rPr lang="en-US" b="1" dirty="0"/>
              <a:t>Prime Sedan</a:t>
            </a:r>
            <a:r>
              <a:rPr lang="en-US" dirty="0"/>
              <a:t> also records the highest successful booking value (</a:t>
            </a:r>
            <a:r>
              <a:rPr lang="en-US" b="1" dirty="0"/>
              <a:t>5.2M</a:t>
            </a:r>
            <a:r>
              <a:rPr lang="en-US" dirty="0"/>
              <a:t>), reflecting strong service completion in this category.</a:t>
            </a:r>
          </a:p>
          <a:p>
            <a:pPr marL="342900" indent="-342900">
              <a:buAutoNum type="arabicPeriod"/>
            </a:pPr>
            <a:r>
              <a:rPr lang="en-US" b="1" dirty="0"/>
              <a:t>Auto rides</a:t>
            </a:r>
            <a:r>
              <a:rPr lang="en-US" dirty="0"/>
              <a:t> have the lowest average distance (</a:t>
            </a:r>
            <a:r>
              <a:rPr lang="en-US" b="1" dirty="0"/>
              <a:t>6.24 km</a:t>
            </a:r>
            <a:r>
              <a:rPr lang="en-US" dirty="0"/>
              <a:t>), indicating they are mainly used for short-distance travel.</a:t>
            </a:r>
          </a:p>
        </p:txBody>
      </p:sp>
    </p:spTree>
    <p:extLst>
      <p:ext uri="{BB962C8B-B14F-4D97-AF65-F5344CB8AC3E}">
        <p14:creationId xmlns:p14="http://schemas.microsoft.com/office/powerpoint/2010/main" val="2505410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E391B-19F1-BD9C-3644-BAAC0136A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4D631C-7CBD-2D31-1450-072C44A1F3AE}"/>
              </a:ext>
            </a:extLst>
          </p:cNvPr>
          <p:cNvSpPr txBox="1"/>
          <p:nvPr/>
        </p:nvSpPr>
        <p:spPr>
          <a:xfrm>
            <a:off x="620486" y="522515"/>
            <a:ext cx="48013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Dashboard Overview #3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304815-8BD6-5FB8-33D8-8C5ACF8EA32F}"/>
              </a:ext>
            </a:extLst>
          </p:cNvPr>
          <p:cNvSpPr txBox="1"/>
          <p:nvPr/>
        </p:nvSpPr>
        <p:spPr>
          <a:xfrm>
            <a:off x="620486" y="1107290"/>
            <a:ext cx="6899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dashboard provides a </a:t>
            </a:r>
            <a:r>
              <a:rPr lang="en-US" b="1" dirty="0"/>
              <a:t>visual representation of the dataset insights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E387A1-67D8-32D5-4364-BB339AE96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18955" y="2670383"/>
            <a:ext cx="6058822" cy="33969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5AB7D0-ADC2-E7E9-306A-8B4A1BAC4FBA}"/>
              </a:ext>
            </a:extLst>
          </p:cNvPr>
          <p:cNvSpPr txBox="1"/>
          <p:nvPr/>
        </p:nvSpPr>
        <p:spPr>
          <a:xfrm>
            <a:off x="620486" y="1692065"/>
            <a:ext cx="38430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Key Insights from Dashboard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EAE84F-C0F5-2FC5-F2EE-FAD7AC88EED1}"/>
              </a:ext>
            </a:extLst>
          </p:cNvPr>
          <p:cNvSpPr txBox="1"/>
          <p:nvPr/>
        </p:nvSpPr>
        <p:spPr>
          <a:xfrm>
            <a:off x="620486" y="2153730"/>
            <a:ext cx="49332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important insights from the analysis include: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"Other" and "Cash" are the primary payment methods, both significantly exceeding </a:t>
            </a:r>
            <a:r>
              <a:rPr lang="en-US" b="1" dirty="0"/>
              <a:t>10M</a:t>
            </a:r>
            <a:r>
              <a:rPr lang="en-US" dirty="0"/>
              <a:t> in booking value.</a:t>
            </a:r>
          </a:p>
          <a:p>
            <a:pPr marL="342900" indent="-342900">
              <a:buAutoNum type="arabicPeriod"/>
            </a:pPr>
            <a:r>
              <a:rPr lang="en-US" dirty="0"/>
              <a:t>Digital cards (Credit/Debit) are the least used, showing a heavy reliance on cash or alternative digital payments.</a:t>
            </a:r>
          </a:p>
          <a:p>
            <a:pPr marL="342900" indent="-342900">
              <a:buAutoNum type="arabicPeriod"/>
            </a:pPr>
            <a:r>
              <a:rPr lang="en-US" dirty="0"/>
              <a:t>Customer </a:t>
            </a:r>
            <a:r>
              <a:rPr lang="en-US" b="1" dirty="0"/>
              <a:t>CID785112</a:t>
            </a:r>
            <a:r>
              <a:rPr lang="en-US" dirty="0"/>
              <a:t> is the highest contributor with a total booking value of </a:t>
            </a:r>
            <a:r>
              <a:rPr lang="en-US" b="1" dirty="0"/>
              <a:t>8,025</a:t>
            </a:r>
            <a:r>
              <a:rPr lang="en-US" dirty="0"/>
              <a:t>.</a:t>
            </a:r>
          </a:p>
          <a:p>
            <a:pPr marL="342900" indent="-342900">
              <a:buAutoNum type="arabicPeriod"/>
            </a:pPr>
            <a:r>
              <a:rPr lang="en-US" dirty="0"/>
              <a:t>Ride distances show a massive spike around </a:t>
            </a:r>
            <a:r>
              <a:rPr lang="en-US" b="1" dirty="0"/>
              <a:t>July 29th</a:t>
            </a:r>
            <a:r>
              <a:rPr lang="en-US" dirty="0"/>
              <a:t>, followed by a sharp crash at month-end.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Mid-month ride distances remained relatively stable, fluctuating between </a:t>
            </a:r>
            <a:r>
              <a:rPr lang="en-US" b="1" dirty="0"/>
              <a:t>46K and 49K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3339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57420-6AC2-BBE5-F145-9FCA136C7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5DC31F-2CD4-414B-32BA-82BD6D0E9D5D}"/>
              </a:ext>
            </a:extLst>
          </p:cNvPr>
          <p:cNvSpPr txBox="1"/>
          <p:nvPr/>
        </p:nvSpPr>
        <p:spPr>
          <a:xfrm>
            <a:off x="620486" y="522515"/>
            <a:ext cx="48013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Dashboard Overview #4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A0C53D-863F-CFA9-85EF-572E81D4F897}"/>
              </a:ext>
            </a:extLst>
          </p:cNvPr>
          <p:cNvSpPr txBox="1"/>
          <p:nvPr/>
        </p:nvSpPr>
        <p:spPr>
          <a:xfrm>
            <a:off x="620486" y="1107290"/>
            <a:ext cx="6899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dashboard provides a </a:t>
            </a:r>
            <a:r>
              <a:rPr lang="en-US" b="1" dirty="0"/>
              <a:t>visual representation of the dataset insights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0D039-A34F-5FC6-6647-B65A96685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18955" y="2674787"/>
            <a:ext cx="6058822" cy="33881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E080D3-6A79-BE96-AB9F-9205069AA99C}"/>
              </a:ext>
            </a:extLst>
          </p:cNvPr>
          <p:cNvSpPr txBox="1"/>
          <p:nvPr/>
        </p:nvSpPr>
        <p:spPr>
          <a:xfrm>
            <a:off x="620486" y="1692065"/>
            <a:ext cx="38430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Key Insights from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B3871C-C585-68E1-8B6A-D2BE1C6A4B35}"/>
              </a:ext>
            </a:extLst>
          </p:cNvPr>
          <p:cNvSpPr txBox="1"/>
          <p:nvPr/>
        </p:nvSpPr>
        <p:spPr>
          <a:xfrm>
            <a:off x="620486" y="2153730"/>
            <a:ext cx="493329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important insights from the analysis include: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Out of approximately 103K total requests, </a:t>
            </a:r>
            <a:r>
              <a:rPr lang="en-US" b="1" dirty="0"/>
              <a:t>63.97K</a:t>
            </a:r>
            <a:r>
              <a:rPr lang="en-US" dirty="0"/>
              <a:t> were successful bookings.</a:t>
            </a:r>
          </a:p>
          <a:p>
            <a:pPr marL="342900" indent="-342900">
              <a:buAutoNum type="arabicPeriod"/>
            </a:pPr>
            <a:r>
              <a:rPr lang="en-US" dirty="0"/>
              <a:t>Drivers cancel significantly more often (</a:t>
            </a:r>
            <a:r>
              <a:rPr lang="en-US" b="1" dirty="0"/>
              <a:t>18.43K</a:t>
            </a:r>
            <a:r>
              <a:rPr lang="en-US" dirty="0"/>
              <a:t>) than customers (</a:t>
            </a:r>
            <a:r>
              <a:rPr lang="en-US" b="1" dirty="0"/>
              <a:t>10.50K</a:t>
            </a:r>
            <a:r>
              <a:rPr lang="en-US" dirty="0"/>
              <a:t>).</a:t>
            </a:r>
          </a:p>
          <a:p>
            <a:pPr marL="342900" indent="-342900">
              <a:buAutoNum type="arabicPeriod"/>
            </a:pPr>
            <a:r>
              <a:rPr lang="en-US" dirty="0"/>
              <a:t>The top driver-led reason (</a:t>
            </a:r>
            <a:r>
              <a:rPr lang="en-US" b="1" dirty="0"/>
              <a:t>6.35%</a:t>
            </a:r>
            <a:r>
              <a:rPr lang="en-US" dirty="0"/>
              <a:t>) is attributed to </a:t>
            </a:r>
            <a:r>
              <a:rPr lang="en-US" b="1" dirty="0"/>
              <a:t>Personal &amp; Car related issues</a:t>
            </a:r>
            <a:r>
              <a:rPr lang="en-US" dirty="0"/>
              <a:t>.</a:t>
            </a:r>
          </a:p>
          <a:p>
            <a:pPr marL="342900" indent="-342900">
              <a:buAutoNum type="arabicPeriod"/>
            </a:pPr>
            <a:r>
              <a:rPr lang="en-US" dirty="0"/>
              <a:t>The most common customer-led reason (3.08%) is driver not moving towards pickup.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There were </a:t>
            </a:r>
            <a:r>
              <a:rPr lang="en-US" b="1" dirty="0"/>
              <a:t>10.12K</a:t>
            </a:r>
            <a:r>
              <a:rPr lang="en-US" dirty="0"/>
              <a:t> instances where no driver was found, indicating a potential supply gap.</a:t>
            </a:r>
          </a:p>
          <a:p>
            <a:pPr marL="342900" indent="-342900">
              <a:buFontTx/>
              <a:buAutoNum type="arabicPeriod"/>
            </a:pPr>
            <a:r>
              <a:rPr lang="en-US" b="1" dirty="0"/>
              <a:t>82.11%</a:t>
            </a:r>
            <a:r>
              <a:rPr lang="en-US" dirty="0"/>
              <a:t> of driver-accepted rides and </a:t>
            </a:r>
            <a:r>
              <a:rPr lang="en-US" b="1" dirty="0"/>
              <a:t>89.81%</a:t>
            </a:r>
            <a:r>
              <a:rPr lang="en-US" dirty="0"/>
              <a:t> of customer-initiated rides are completed without cancellation.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000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51055-B700-2116-7C53-3C7FCCF7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B0E809-9B97-E574-A0EB-5DC37DBEDD13}"/>
              </a:ext>
            </a:extLst>
          </p:cNvPr>
          <p:cNvSpPr txBox="1"/>
          <p:nvPr/>
        </p:nvSpPr>
        <p:spPr>
          <a:xfrm>
            <a:off x="620486" y="522515"/>
            <a:ext cx="48013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Dashboard Overview #5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FD26F5-9C8C-4B92-C366-F91B3A7E2924}"/>
              </a:ext>
            </a:extLst>
          </p:cNvPr>
          <p:cNvSpPr txBox="1"/>
          <p:nvPr/>
        </p:nvSpPr>
        <p:spPr>
          <a:xfrm>
            <a:off x="620486" y="1107290"/>
            <a:ext cx="6899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dashboard provides a </a:t>
            </a:r>
            <a:r>
              <a:rPr lang="en-US" b="1" dirty="0"/>
              <a:t>visual representation of the dataset insights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3510A0-A584-DCAB-5E42-271D25D75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365" y="2674787"/>
            <a:ext cx="6032002" cy="33881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E2560E-3C36-2EA8-5593-68661771D6B9}"/>
              </a:ext>
            </a:extLst>
          </p:cNvPr>
          <p:cNvSpPr txBox="1"/>
          <p:nvPr/>
        </p:nvSpPr>
        <p:spPr>
          <a:xfrm>
            <a:off x="620486" y="1692065"/>
            <a:ext cx="38430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Key Insights from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224AA9-6AAE-B816-5CA6-E22C1BE0C15D}"/>
              </a:ext>
            </a:extLst>
          </p:cNvPr>
          <p:cNvSpPr txBox="1"/>
          <p:nvPr/>
        </p:nvSpPr>
        <p:spPr>
          <a:xfrm>
            <a:off x="620486" y="2153730"/>
            <a:ext cx="49332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important insights from the analysis include: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All categories across both drivers and customers are hovering around a </a:t>
            </a:r>
            <a:r>
              <a:rPr lang="en-US" b="1" dirty="0"/>
              <a:t>2.5/5.0</a:t>
            </a:r>
            <a:r>
              <a:rPr lang="en-US" dirty="0"/>
              <a:t>, indicating a significantly poor satisfaction level platform-wide.</a:t>
            </a:r>
          </a:p>
          <a:p>
            <a:pPr marL="342900" indent="-342900">
              <a:buAutoNum type="arabicPeriod"/>
            </a:pPr>
            <a:r>
              <a:rPr lang="en-US" dirty="0"/>
              <a:t>Prime </a:t>
            </a:r>
            <a:r>
              <a:rPr lang="en-US" dirty="0" err="1"/>
              <a:t>Sedamm</a:t>
            </a:r>
            <a:r>
              <a:rPr lang="en-US" dirty="0"/>
              <a:t> holds the highest rating for both drivers and customers, though still very low by industry standards</a:t>
            </a:r>
          </a:p>
          <a:p>
            <a:pPr marL="342900" indent="-342900">
              <a:buAutoNum type="arabicPeriod"/>
            </a:pPr>
            <a:r>
              <a:rPr lang="en-US" b="1" dirty="0"/>
              <a:t>Prime SUV</a:t>
            </a:r>
            <a:r>
              <a:rPr lang="en-US" dirty="0"/>
              <a:t> is the lowest-rated vehicle type for drivers at </a:t>
            </a:r>
            <a:r>
              <a:rPr lang="en-US" b="1" dirty="0"/>
              <a:t>2.44</a:t>
            </a:r>
            <a:r>
              <a:rPr lang="en-US" dirty="0"/>
              <a:t>, suggesting potential issues with vehicle quality or expectations in that tier.</a:t>
            </a:r>
          </a:p>
          <a:p>
            <a:pPr marL="342900" indent="-342900">
              <a:buAutoNum type="arabicPeriod"/>
            </a:pPr>
            <a:r>
              <a:rPr lang="en-US" dirty="0"/>
              <a:t>The </a:t>
            </a:r>
            <a:r>
              <a:rPr lang="en-US" b="1" dirty="0"/>
              <a:t>Mini</a:t>
            </a:r>
            <a:r>
              <a:rPr lang="en-US" dirty="0"/>
              <a:t> and </a:t>
            </a:r>
            <a:r>
              <a:rPr lang="en-US" b="1" dirty="0"/>
              <a:t>E-Bike</a:t>
            </a:r>
            <a:r>
              <a:rPr lang="en-US" dirty="0"/>
              <a:t> categories are the most stable, maintaining a flat </a:t>
            </a:r>
            <a:r>
              <a:rPr lang="en-US" b="1" dirty="0"/>
              <a:t>2.50</a:t>
            </a:r>
            <a:r>
              <a:rPr lang="en-US" dirty="0"/>
              <a:t> rating across both groups.</a:t>
            </a:r>
          </a:p>
        </p:txBody>
      </p:sp>
    </p:spTree>
    <p:extLst>
      <p:ext uri="{BB962C8B-B14F-4D97-AF65-F5344CB8AC3E}">
        <p14:creationId xmlns:p14="http://schemas.microsoft.com/office/powerpoint/2010/main" val="3112456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6BA44-7572-3E1C-A1F3-F41733196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B8F73B-DA49-BE10-9C62-4118BEDBCFD5}"/>
              </a:ext>
            </a:extLst>
          </p:cNvPr>
          <p:cNvSpPr txBox="1"/>
          <p:nvPr/>
        </p:nvSpPr>
        <p:spPr>
          <a:xfrm>
            <a:off x="620486" y="522515"/>
            <a:ext cx="5441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BUSINESS RECOMMENDATION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05FDA-05B9-1354-C48B-267D379E899F}"/>
              </a:ext>
            </a:extLst>
          </p:cNvPr>
          <p:cNvSpPr txBox="1"/>
          <p:nvPr/>
        </p:nvSpPr>
        <p:spPr>
          <a:xfrm>
            <a:off x="620486" y="1107290"/>
            <a:ext cx="108312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Driver cancellations are double those of customers; provide vehicle maintenance support and flexible scheduling to address "Personal/Car issues.“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10K+ "Driver Not Found" cases show a supply gap; use surge incentives during peak volume spikes to get more drivers online.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2.5 average rating is critical; audit the </a:t>
            </a:r>
            <a:r>
              <a:rPr lang="en-US" b="1" dirty="0"/>
              <a:t>Prime SUV</a:t>
            </a:r>
            <a:r>
              <a:rPr lang="en-US" dirty="0"/>
              <a:t> tier and implement quality-control checks to raise service standards.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"Cash" and "Other" dominate; offer UPI-specific discounts to move away from cash-heavy transactions and improve safety.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Premium tiers have low ratings; ensure high-value customers get better vehicles or elite drivers to justify the price.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Premium tiers have low ratings; ensure high-value customers get better vehicles or elite drivers to justify the price.</a:t>
            </a:r>
          </a:p>
        </p:txBody>
      </p:sp>
    </p:spTree>
    <p:extLst>
      <p:ext uri="{BB962C8B-B14F-4D97-AF65-F5344CB8AC3E}">
        <p14:creationId xmlns:p14="http://schemas.microsoft.com/office/powerpoint/2010/main" val="2357772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1438</TotalTime>
  <Words>1035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Bookman Old Style</vt:lpstr>
      <vt:lpstr>Calibri</vt:lpstr>
      <vt:lpstr>Calibri Light</vt:lpstr>
      <vt:lpstr>Office Theme</vt:lpstr>
      <vt:lpstr>Ola Ride Data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Sharansh Agarwal</dc:creator>
  <cp:lastModifiedBy>Sharansh Agarwal</cp:lastModifiedBy>
  <cp:revision>4</cp:revision>
  <dcterms:created xsi:type="dcterms:W3CDTF">2026-03-13T11:46:57Z</dcterms:created>
  <dcterms:modified xsi:type="dcterms:W3CDTF">2026-03-14T11:45:44Z</dcterms:modified>
</cp:coreProperties>
</file>